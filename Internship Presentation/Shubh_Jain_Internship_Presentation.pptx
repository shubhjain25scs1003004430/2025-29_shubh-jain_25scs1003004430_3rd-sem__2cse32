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931120" cy="987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3080" y="502920"/>
            <a:ext cx="475488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192B3D"/>
                </a:solidFill>
                <a:latin typeface="Aptos"/>
              </a:rPr>
              <a:t>IILM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1368" y="914400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67707A"/>
                </a:solidFill>
                <a:latin typeface="Aptos"/>
              </a:rPr>
              <a:t>School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852160" cy="1417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3400" b="1">
                <a:solidFill>
                  <a:srgbClr val="192B3D"/>
                </a:solidFill>
                <a:latin typeface="Aptos"/>
              </a:rPr>
              <a:t>INTERNSHIP
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01568"/>
            <a:ext cx="65836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200" b="1">
                <a:solidFill>
                  <a:srgbClr val="DAA126"/>
                </a:solidFill>
                <a:latin typeface="Aptos"/>
              </a:rPr>
              <a:t>MIS Operations &amp; Data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627632"/>
            <a:ext cx="4069080" cy="4041648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965960"/>
            <a:ext cx="32918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00" b="1">
                <a:solidFill>
                  <a:srgbClr val="192B3D"/>
                </a:solidFill>
                <a:latin typeface="Aptos"/>
              </a:rPr>
              <a:t>INTERNSHIP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48716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67707A"/>
                </a:solidFill>
                <a:latin typeface="Aptos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2459736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20" b="1">
                <a:solidFill>
                  <a:srgbClr val="272E36"/>
                </a:solidFill>
                <a:latin typeface="Aptos"/>
              </a:rPr>
              <a:t>Shubh Jain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99008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67707A"/>
                </a:solidFill>
                <a:latin typeface="Aptos"/>
              </a:rPr>
              <a:t>ENROLLMENT 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2962656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20" b="1">
                <a:solidFill>
                  <a:srgbClr val="272E36"/>
                </a:solidFill>
                <a:latin typeface="Aptos"/>
              </a:rPr>
              <a:t>25SCS1003004430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49300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67707A"/>
                </a:solidFill>
                <a:latin typeface="Aptos"/>
              </a:rPr>
              <a:t>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3465576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20" b="1">
                <a:solidFill>
                  <a:srgbClr val="272E36"/>
                </a:solidFill>
                <a:latin typeface="Aptos"/>
              </a:rPr>
              <a:t>B.Tech (CSE)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99592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67707A"/>
                </a:solidFill>
                <a:latin typeface="Aptos"/>
              </a:rPr>
              <a:t>SEMESTER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3968496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20" b="1">
                <a:solidFill>
                  <a:srgbClr val="272E36"/>
                </a:solidFill>
                <a:latin typeface="Aptos"/>
              </a:rP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49884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67707A"/>
                </a:solidFill>
                <a:latin typeface="Aptos"/>
              </a:rPr>
              <a:t>ORGANIZATION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4471416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20" b="1">
                <a:solidFill>
                  <a:srgbClr val="272E36"/>
                </a:solidFill>
                <a:latin typeface="Aptos"/>
              </a:rPr>
              <a:t>AimTech Soft Pvt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001768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1">
                <a:solidFill>
                  <a:srgbClr val="67707A"/>
                </a:solidFill>
                <a:latin typeface="Aptos"/>
              </a:rPr>
              <a:t>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974336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220" b="1">
                <a:solidFill>
                  <a:srgbClr val="272E36"/>
                </a:solidFill>
                <a:latin typeface="Aptos"/>
              </a:rPr>
              <a:t>1 July – 30 July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5422392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00" b="1">
                <a:solidFill>
                  <a:srgbClr val="437758"/>
                </a:solidFill>
                <a:latin typeface="Aptos"/>
              </a:rPr>
              <a:t>Remote Internship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989320"/>
            <a:ext cx="38404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67707A"/>
                </a:solidFill>
                <a:latin typeface="Aptos"/>
              </a:rPr>
              <a:t>Academic Session 2026–27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34290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51560"/>
            <a:ext cx="73152" cy="1874519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216151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55064"/>
            <a:ext cx="3017520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72E36"/>
                </a:solidFill>
                <a:latin typeface="Aptos"/>
              </a:rPr>
              <a:t>MIS Executive
Focused on data management, reporting, trackers and management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4290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874519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216151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Mode &amp; Duration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655064"/>
            <a:ext cx="3017520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72E36"/>
                </a:solidFill>
                <a:latin typeface="Aptos"/>
              </a:rPr>
              <a:t>Remote internship
1 July 2026 to 30 July 2026
1 month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51560"/>
            <a:ext cx="342900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051560"/>
            <a:ext cx="73152" cy="1874519"/>
          </a:xfrm>
          <a:prstGeom prst="rect">
            <a:avLst/>
          </a:prstGeom>
          <a:solidFill>
            <a:srgbClr val="437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216151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Core 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1655064"/>
            <a:ext cx="3017520" cy="11247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72E36"/>
                </a:solidFill>
                <a:latin typeface="Aptos"/>
              </a:rPr>
              <a:t>Bridging classroom knowledge of data handling with practical, industry-oriented MIS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337560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192B3D"/>
                </a:solidFill>
                <a:latin typeface="Aptos"/>
              </a:rPr>
              <a:t>Internship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822191"/>
            <a:ext cx="10698480" cy="1965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2E36"/>
                </a:solidFill>
                <a:latin typeface="Aptos"/>
              </a:defRPr>
            </a:pPr>
            <a:r>
              <a:t>• Understand the role of MIS in business decision-making.</a:t>
            </a:r>
          </a:p>
          <a:p>
            <a:pPr>
              <a:spcAft>
                <a:spcPts val="500"/>
              </a:spcAft>
              <a:defRPr sz="1500">
                <a:solidFill>
                  <a:srgbClr val="272E36"/>
                </a:solidFill>
                <a:latin typeface="Aptos"/>
              </a:defRPr>
            </a:pPr>
            <a:r>
              <a:t>• Work through an end-to-end data reporting workflow.</a:t>
            </a:r>
          </a:p>
          <a:p>
            <a:pPr>
              <a:spcAft>
                <a:spcPts val="500"/>
              </a:spcAft>
              <a:defRPr sz="1500">
                <a:solidFill>
                  <a:srgbClr val="272E36"/>
                </a:solidFill>
                <a:latin typeface="Aptos"/>
              </a:defRPr>
            </a:pPr>
            <a:r>
              <a:t>• Convert raw operational data into structured, actionable information.</a:t>
            </a:r>
          </a:p>
          <a:p>
            <a:pPr>
              <a:spcAft>
                <a:spcPts val="500"/>
              </a:spcAft>
              <a:defRPr sz="1500">
                <a:solidFill>
                  <a:srgbClr val="272E36"/>
                </a:solidFill>
                <a:latin typeface="Aptos"/>
              </a:defRPr>
            </a:pPr>
            <a:r>
              <a:t>• Develop practical spreadsheet, reporting and coordination skills.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Organization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87552"/>
            <a:ext cx="548640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92B3D"/>
                </a:solidFill>
                <a:latin typeface="Aptos"/>
              </a:rPr>
              <a:t>AimTech Soft Pvt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58521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67707A"/>
                </a:solidFill>
                <a:latin typeface="Aptos"/>
              </a:rPr>
              <a:t>Technology-driven organization guided by the principle “Experience Certainty.”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34290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331720"/>
            <a:ext cx="73152" cy="2331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96312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Data &amp;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35224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72E36"/>
                </a:solidFill>
                <a:latin typeface="Aptos"/>
              </a:rPr>
              <a:t>Emphasis on reliable internal data governance and reporting practices.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331720"/>
            <a:ext cx="34290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331720"/>
            <a:ext cx="73152" cy="2331720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496312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Business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935224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72E36"/>
                </a:solidFill>
                <a:latin typeface="Aptos"/>
              </a:rPr>
              <a:t>MIS helps track performance, streamline operations and support data-driven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2331720"/>
            <a:ext cx="34290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2331720"/>
            <a:ext cx="73152" cy="2331720"/>
          </a:xfrm>
          <a:prstGeom prst="rect">
            <a:avLst/>
          </a:prstGeom>
          <a:solidFill>
            <a:srgbClr val="437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4" y="2496312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Internship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2935224"/>
            <a:ext cx="3017520" cy="1581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272E36"/>
                </a:solidFill>
                <a:latin typeface="Aptos"/>
              </a:rPr>
              <a:t>Remote, hands-on exposure to MIS operations, data management and reporting.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34747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92B3D"/>
                </a:solidFill>
                <a:latin typeface="Aptos"/>
              </a:rPr>
              <a:t>Role within the organization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40680"/>
            <a:ext cx="1042416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272E36"/>
                </a:solidFill>
                <a:latin typeface="Aptos"/>
              </a:rPr>
              <a:t>The internship placed the student within an MIS workflow where accurate, timely information is prepared for team and management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024128"/>
            <a:ext cx="53035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24128"/>
            <a:ext cx="73152" cy="452628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188720"/>
            <a:ext cx="48920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92B3D"/>
                </a:solidFill>
                <a:latin typeface="Aptos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4892040" cy="3776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272E36"/>
                </a:solidFill>
                <a:latin typeface="Aptos"/>
              </a:rPr>
              <a:t>Organizations generate large volumes of operational data, but the data becomes useful only when it is accurately collected, organized and presented for timely decision-making.
The internship addressed the practical challenge of consolidating scattered data into consistent, accurate reports and dashboards.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24128"/>
            <a:ext cx="530352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24128"/>
            <a:ext cx="73152" cy="4526280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188720"/>
            <a:ext cx="48920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92B3D"/>
                </a:solidFill>
                <a:latin typeface="Aptos"/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27632"/>
            <a:ext cx="4892040" cy="3776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40" b="0">
                <a:solidFill>
                  <a:srgbClr val="272E36"/>
                </a:solidFill>
                <a:latin typeface="Aptos"/>
              </a:rPr>
              <a:t>• Understand MIS and its importance.
• Gain hands-on data collection and validation experience.
• Organize and consolidate data using Excel and Google Sheets.
• Prepare periodic MIS reports.
• Build trackers and basic dashboards.
• Use formulas, pivot tables and basic automation.
• Coordinate with teams for accurate inputs.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Scope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408176"/>
            <a:ext cx="502920" cy="502920"/>
          </a:xfrm>
          <a:prstGeom prst="ellipse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2646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92B3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371600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92608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72E36"/>
                </a:solidFill>
                <a:latin typeface="Aptos"/>
              </a:rPr>
              <a:t>Gather raw operational data from internal sources, sheets and team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07008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1408176"/>
            <a:ext cx="502920" cy="502920"/>
          </a:xfrm>
          <a:prstGeom prst="ellipse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42646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92B3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1371600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965960"/>
            <a:ext cx="292608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72E36"/>
                </a:solidFill>
                <a:latin typeface="Aptos"/>
              </a:rPr>
              <a:t>Check errors, duplicates, gaps and inconsistencies.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207008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9912" y="1408176"/>
            <a:ext cx="502920" cy="502920"/>
          </a:xfrm>
          <a:prstGeom prst="ellipse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42646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92B3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371600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Consolidate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1965960"/>
            <a:ext cx="292608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72E36"/>
                </a:solidFill>
                <a:latin typeface="Aptos"/>
              </a:rPr>
              <a:t>Merge validated data into structured master spreadsheets.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47288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67512" y="3648456"/>
            <a:ext cx="502920" cy="502920"/>
          </a:xfrm>
          <a:prstGeom prst="ellipse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66674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92B3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3611880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292608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72E36"/>
                </a:solidFill>
                <a:latin typeface="Aptos"/>
              </a:rPr>
              <a:t>Use formulas and pivot tables to summarize trends and exceptions.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447288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53712" y="3648456"/>
            <a:ext cx="502920" cy="502920"/>
          </a:xfrm>
          <a:prstGeom prst="ellipse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66674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92B3D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611880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06240"/>
            <a:ext cx="292608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72E36"/>
                </a:solidFill>
                <a:latin typeface="Aptos"/>
              </a:rPr>
              <a:t>Prepare periodic MIS reports, trackers and basic dashboards.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447288"/>
            <a:ext cx="34290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9912" y="3648456"/>
            <a:ext cx="502920" cy="502920"/>
          </a:xfrm>
          <a:prstGeom prst="ellipse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2" y="3666744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850" b="1">
                <a:solidFill>
                  <a:srgbClr val="192B3D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3611880"/>
            <a:ext cx="22860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92B3D"/>
                </a:solidFill>
                <a:latin typeface="Aptos"/>
              </a:rP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206240"/>
            <a:ext cx="2926080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50" b="0">
                <a:solidFill>
                  <a:srgbClr val="272E36"/>
                </a:solidFill>
                <a:latin typeface="Aptos"/>
              </a:rPr>
              <a:t>Share outputs for feedback, correction and decision-making.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Technologies, Tools &amp;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2578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73152" cy="1298448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216151"/>
            <a:ext cx="48463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92B3D"/>
                </a:solidFill>
                <a:latin typeface="Aptos"/>
              </a:rPr>
              <a:t>MS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55064"/>
            <a:ext cx="48463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272E36"/>
                </a:solidFill>
                <a:latin typeface="Aptos"/>
              </a:rPr>
              <a:t>Formulas, VLOOKUP/XLOOKUP, Pivot Tables, conditional formatting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51560"/>
            <a:ext cx="52578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051560"/>
            <a:ext cx="73152" cy="129844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216151"/>
            <a:ext cx="48463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92B3D"/>
                </a:solidFill>
                <a:latin typeface="Aptos"/>
              </a:rPr>
              <a:t>Google 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55064"/>
            <a:ext cx="48463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272E36"/>
                </a:solidFill>
                <a:latin typeface="Aptos"/>
              </a:rPr>
              <a:t>Collaborative spreadsheet-based data organization and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51760"/>
            <a:ext cx="52578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651760"/>
            <a:ext cx="73152" cy="1298448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816352"/>
            <a:ext cx="48463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92B3D"/>
                </a:solidFill>
                <a:latin typeface="Aptos"/>
              </a:rPr>
              <a:t>Data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255264"/>
            <a:ext cx="48463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272E36"/>
                </a:solidFill>
                <a:latin typeface="Aptos"/>
              </a:rPr>
              <a:t>Cleaning, validation, consolidation and structured master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51760"/>
            <a:ext cx="52578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651760"/>
            <a:ext cx="73152" cy="129844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816352"/>
            <a:ext cx="48463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92B3D"/>
                </a:solidFill>
                <a:latin typeface="Aptos"/>
              </a:rPr>
              <a:t>Dashboards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255264"/>
            <a:ext cx="48463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272E36"/>
                </a:solidFill>
                <a:latin typeface="Aptos"/>
              </a:rPr>
              <a:t>MIS templates, trackers and basic dashboard creation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52578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51960"/>
            <a:ext cx="73152" cy="1298448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416552"/>
            <a:ext cx="48463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92B3D"/>
                </a:solidFill>
                <a:latin typeface="Aptos"/>
              </a:rPr>
              <a:t>Basic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855464"/>
            <a:ext cx="48463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272E36"/>
                </a:solidFill>
                <a:latin typeface="Aptos"/>
              </a:rPr>
              <a:t>Excel formulas and macros for repetitive reporting tasks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51960"/>
            <a:ext cx="52578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251960"/>
            <a:ext cx="73152" cy="129844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4416552"/>
            <a:ext cx="48463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192B3D"/>
                </a:solidFill>
                <a:latin typeface="Aptos"/>
              </a:rPr>
              <a:t>Communication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4855464"/>
            <a:ext cx="484632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80" b="0">
                <a:solidFill>
                  <a:srgbClr val="272E36"/>
                </a:solidFill>
                <a:latin typeface="Aptos"/>
              </a:rPr>
              <a:t>Email and messaging tools for remote coordination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618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437758"/>
                </a:solidFill>
                <a:latin typeface="Aptos"/>
              </a:rPr>
              <a:t>Key capability developed: turning raw data into structured information that is easier to review and act upon.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Methodology &amp; Work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70432" y="2249424"/>
            <a:ext cx="1362455" cy="0"/>
          </a:xfrm>
          <a:prstGeom prst="line">
            <a:avLst/>
          </a:prstGeom>
          <a:ln w="25400">
            <a:solidFill>
              <a:srgbClr val="DAA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58368" y="1965960"/>
            <a:ext cx="566928" cy="566928"/>
          </a:xfrm>
          <a:prstGeom prst="ellipse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75688"/>
            <a:ext cx="5669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92B3D"/>
                </a:solidFill>
                <a:latin typeface="Aptos"/>
              </a:rPr>
              <a:t>Orientation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1" y="3136391"/>
            <a:ext cx="1920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72E36"/>
                </a:solidFill>
                <a:latin typeface="Aptos"/>
              </a:rPr>
              <a:t>Onboarding, reporting formats, tools and MIS responsibilities.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1" y="2249424"/>
            <a:ext cx="1362456" cy="0"/>
          </a:xfrm>
          <a:prstGeom prst="line">
            <a:avLst/>
          </a:prstGeom>
          <a:ln w="25400">
            <a:solidFill>
              <a:srgbClr val="DAA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532887" y="1965960"/>
            <a:ext cx="566928" cy="566928"/>
          </a:xfrm>
          <a:prstGeom prst="ellipse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7" y="2075688"/>
            <a:ext cx="5669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59" y="2743200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92B3D"/>
                </a:solidFill>
                <a:latin typeface="Aptos"/>
              </a:rPr>
              <a:t>Data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1" y="3136391"/>
            <a:ext cx="1920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72E36"/>
                </a:solidFill>
                <a:latin typeface="Aptos"/>
              </a:rPr>
              <a:t>Gathering assigned data and entering it into structured formats.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19471" y="2249424"/>
            <a:ext cx="1362456" cy="0"/>
          </a:xfrm>
          <a:prstGeom prst="line">
            <a:avLst/>
          </a:prstGeom>
          <a:ln w="25400">
            <a:solidFill>
              <a:srgbClr val="DAA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407407" y="1965960"/>
            <a:ext cx="566928" cy="566928"/>
          </a:xfrm>
          <a:prstGeom prst="ellipse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7" y="2075688"/>
            <a:ext cx="5669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2743200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92B3D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6511" y="3136391"/>
            <a:ext cx="1920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72E36"/>
                </a:solidFill>
                <a:latin typeface="Aptos"/>
              </a:rPr>
              <a:t>Checking errors, duplicates and inconsistencies.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93992" y="2249424"/>
            <a:ext cx="1362455" cy="0"/>
          </a:xfrm>
          <a:prstGeom prst="line">
            <a:avLst/>
          </a:prstGeom>
          <a:ln w="25400">
            <a:solidFill>
              <a:srgbClr val="DAA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281927" y="1965960"/>
            <a:ext cx="566928" cy="566928"/>
          </a:xfrm>
          <a:prstGeom prst="ellipse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81927" y="2075688"/>
            <a:ext cx="5669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2743200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92B3D"/>
                </a:solidFill>
                <a:latin typeface="Aptos"/>
              </a:rPr>
              <a:t>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1" y="3136391"/>
            <a:ext cx="1920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72E36"/>
                </a:solidFill>
                <a:latin typeface="Aptos"/>
              </a:rPr>
              <a:t>Using formulas and pivot tables to prepare reports and dashboards.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2249424"/>
            <a:ext cx="1362455" cy="0"/>
          </a:xfrm>
          <a:prstGeom prst="line">
            <a:avLst/>
          </a:prstGeom>
          <a:ln w="25400">
            <a:solidFill>
              <a:srgbClr val="DAA1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56448" y="1965960"/>
            <a:ext cx="566928" cy="566928"/>
          </a:xfrm>
          <a:prstGeom prst="ellipse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2075688"/>
            <a:ext cx="5669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743200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92B3D"/>
                </a:solidFill>
                <a:latin typeface="Aptos"/>
              </a:rPr>
              <a:t>Coordination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3136391"/>
            <a:ext cx="1920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72E36"/>
                </a:solidFill>
                <a:latin typeface="Aptos"/>
              </a:rPr>
              <a:t>Resolving data gaps and incorporating team feedback.</a:t>
            </a:r>
          </a:p>
        </p:txBody>
      </p:sp>
      <p:sp>
        <p:nvSpPr>
          <p:cNvPr id="31" name="Oval 30"/>
          <p:cNvSpPr/>
          <p:nvPr/>
        </p:nvSpPr>
        <p:spPr>
          <a:xfrm>
            <a:off x="10030968" y="1965960"/>
            <a:ext cx="566928" cy="566928"/>
          </a:xfrm>
          <a:prstGeom prst="ellipse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0968" y="2075688"/>
            <a:ext cx="56692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743200"/>
            <a:ext cx="1600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00" b="1">
                <a:solidFill>
                  <a:srgbClr val="192B3D"/>
                </a:solidFill>
                <a:latin typeface="Aptos"/>
              </a:rPr>
              <a:t>Finalization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0072" y="3136391"/>
            <a:ext cx="192024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50" b="0">
                <a:solidFill>
                  <a:srgbClr val="272E36"/>
                </a:solidFill>
                <a:latin typeface="Aptos"/>
              </a:rPr>
              <a:t>Ensuring accuracy and submitting reports for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257800"/>
            <a:ext cx="1024128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67707A"/>
                </a:solidFill>
                <a:latin typeface="Aptos"/>
              </a:rPr>
              <a:t>Continuous review and feedback were incorporated throughout the internship to improve accuracy and presentation.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Learning Outcomes &amp; Skills Gained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43891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192B3D"/>
                </a:solidFill>
                <a:latin typeface="Aptos"/>
              </a:rPr>
              <a:t>Technical &amp; Analytical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9204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Practical understanding of MIS in business decision-making</a:t>
            </a:r>
          </a:p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Hands-on data collection, validation and consolidation</a:t>
            </a:r>
          </a:p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Independent preparation of periodic MIS reports</a:t>
            </a:r>
          </a:p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Basic dashboard and tracker creation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097280"/>
            <a:ext cx="43891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000" b="1">
                <a:solidFill>
                  <a:srgbClr val="192B3D"/>
                </a:solidFill>
                <a:latin typeface="Aptos"/>
              </a:rPr>
              <a:t>Professional &amp; Workplace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64208"/>
            <a:ext cx="4800600" cy="34747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Improved Excel / Google Sheets proficiency</a:t>
            </a:r>
          </a:p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Formulas, pivot tables and conditional formatting</a:t>
            </a:r>
          </a:p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Better remote coordination and communication</a:t>
            </a:r>
          </a:p>
          <a:p>
            <a:pPr>
              <a:spcAft>
                <a:spcPts val="500"/>
              </a:spcAft>
              <a:defRPr sz="1400">
                <a:solidFill>
                  <a:srgbClr val="272E36"/>
                </a:solidFill>
                <a:latin typeface="Aptos"/>
              </a:defRPr>
            </a:pPr>
            <a:r>
              <a:t>• Readiness for entry-level MIS / data reporting responsibilities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40680"/>
            <a:ext cx="10744200" cy="685800"/>
          </a:xfrm>
          <a:prstGeom prst="roundRect">
            <a:avLst/>
          </a:prstGeom>
          <a:solidFill>
            <a:srgbClr val="F7E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96128"/>
            <a:ext cx="103784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350" b="1">
                <a:solidFill>
                  <a:srgbClr val="192B3D"/>
                </a:solidFill>
                <a:latin typeface="Aptos"/>
              </a:rPr>
              <a:t>Overall outcome: a completed industry internship demonstrating practical MIS and data-reporting capability.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88696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Internship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1000" b="1">
                <a:solidFill>
                  <a:srgbClr val="DAA126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" cy="45720"/>
          </a:xfrm>
          <a:prstGeom prst="rect">
            <a:avLst/>
          </a:prstGeom>
          <a:solidFill>
            <a:srgbClr val="DAA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14400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92B3D"/>
                </a:solidFill>
                <a:latin typeface="Aptos"/>
              </a:rPr>
              <a:t>Offer Letter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914400"/>
            <a:ext cx="27432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92B3D"/>
                </a:solidFill>
                <a:latin typeface="Aptos"/>
              </a:rPr>
              <a:t>Completion Certificate</a:t>
            </a:r>
          </a:p>
        </p:txBody>
      </p:sp>
      <p:pic>
        <p:nvPicPr>
          <p:cNvPr id="8" name="Picture 7" descr="INTERNSHIP OFFER LET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5074920" cy="4617720"/>
          </a:xfrm>
          <a:prstGeom prst="rect">
            <a:avLst/>
          </a:prstGeom>
        </p:spPr>
      </p:pic>
      <p:pic>
        <p:nvPicPr>
          <p:cNvPr id="9" name="Picture 8" descr="INTERNSHIP COMPLETION CERTIFICAT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53312"/>
            <a:ext cx="5166360" cy="4617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94560" y="6062472"/>
            <a:ext cx="7955279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050" b="0">
                <a:solidFill>
                  <a:srgbClr val="67707A"/>
                </a:solidFill>
                <a:latin typeface="Aptos"/>
              </a:rPr>
              <a:t>Issued by AimTech Soft Pvt Ltd • MIS Executive • 1 July–30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9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991471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514600"/>
            <a:ext cx="1078992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4000" b="1">
                <a:solidFill>
                  <a:srgbClr val="192B3D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10128"/>
            <a:ext cx="996696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DAA126"/>
                </a:solidFill>
                <a:latin typeface="Aptos"/>
              </a:rPr>
              <a:t>Internship Presentation — MIS Operations &amp; Data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67707A"/>
                </a:solidFill>
                <a:latin typeface="Aptos"/>
              </a:rPr>
              <a:t>Shubh Jain  •  25SCS1003004430  •  B.Tech (CSE)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98848"/>
            <a:ext cx="996696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192B3D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349240"/>
            <a:ext cx="960120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500" b="0">
                <a:solidFill>
                  <a:srgbClr val="272E36"/>
                </a:solidFill>
                <a:latin typeface="Aptos"/>
              </a:rPr>
              <a:t>A practical journey from raw data to reliable management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64008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850" b="0">
                <a:solidFill>
                  <a:srgbClr val="67707A"/>
                </a:solidFill>
                <a:latin typeface="Aptos"/>
              </a:rPr>
              <a:t>IILM University • Internship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943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192B3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